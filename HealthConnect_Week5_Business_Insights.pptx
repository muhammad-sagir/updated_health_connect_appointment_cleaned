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2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E2C"/>
                </a:solidFill>
                <a:latin typeface="Arial"/>
              </a:rPr>
              <a:t>No-Show Rate by Booking Lead Time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E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0-3 days</c:v>
                </c:pt>
                <c:pt idx="1">
                  <c:v>4-14 days</c:v>
                </c:pt>
                <c:pt idx="2">
                  <c:v>15-30 days</c:v>
                </c:pt>
                <c:pt idx="3">
                  <c:v>31+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24.8</c:v>
                </c:pt>
                <c:pt idx="1">
                  <c:v>32.6</c:v>
                </c:pt>
                <c:pt idx="2">
                  <c:v>43.2</c:v>
                </c:pt>
                <c:pt idx="3">
                  <c:v>60.5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BB-4556-A3D5-78F0889471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0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E2C"/>
                </a:solidFill>
                <a:latin typeface="Arial"/>
              </a:rPr>
              <a:t>No-Show Rate by Prior History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E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0 prior no-shows</c:v>
                </c:pt>
                <c:pt idx="1">
                  <c:v>1+ prior no-shows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43.5</c:v>
                </c:pt>
                <c:pt idx="1">
                  <c:v>55.4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E1-4F96-B0CA-9AADE0CEA8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0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E2C"/>
                </a:solidFill>
                <a:latin typeface="Arial"/>
              </a:rPr>
              <a:t>No-Show Rate by Distance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E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&lt;5km</c:v>
                </c:pt>
                <c:pt idx="1">
                  <c:v>5-15km</c:v>
                </c:pt>
                <c:pt idx="2">
                  <c:v>15km+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46.4</c:v>
                </c:pt>
                <c:pt idx="1">
                  <c:v>47.5</c:v>
                </c:pt>
                <c:pt idx="2">
                  <c:v>54.1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46-412A-9076-673DE3B9DF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0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E2C"/>
                </a:solidFill>
                <a:latin typeface="Arial"/>
              </a:rPr>
              <a:t>No-Show Rate by Reminder Channel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E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None</c:v>
                </c:pt>
                <c:pt idx="1">
                  <c:v>WhatsApp</c:v>
                </c:pt>
                <c:pt idx="2">
                  <c:v>Email</c:v>
                </c:pt>
                <c:pt idx="3">
                  <c:v>SMS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51.4</c:v>
                </c:pt>
                <c:pt idx="1">
                  <c:v>49.8</c:v>
                </c:pt>
                <c:pt idx="2">
                  <c:v>48.4</c:v>
                </c:pt>
                <c:pt idx="3">
                  <c:v>45.8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2-44C8-A858-54A40F859E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0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E2C"/>
                </a:solidFill>
                <a:latin typeface="Arial"/>
              </a:rPr>
              <a:t>No-Show Rate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E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Prefer 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48.7</c:v>
                </c:pt>
                <c:pt idx="1">
                  <c:v>48.4</c:v>
                </c:pt>
                <c:pt idx="2">
                  <c:v>43.5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06-4BBB-A304-9E6EF07084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0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4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3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84048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Experience Lab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Insights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Exploratory Analysis, KPI Development &amp; Business Insights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Internship Programme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is facing a high rate of missed patient appointments. This analysis explores the appointment dataset to understand which factors most influence attendance, in order to guide practical, data-backed interventions.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3756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48.5%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No-Show Rate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74320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2648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1,696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274320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1540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Rate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half of all scheduled appointments end without the patient showing up, confirming this is a significant, worthwhile problem to investigate.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Lead Time Is the Biggest Driver of No-Shows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8288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6002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60020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1488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book 31 or more days in advance no-show at a rate of 60.5%, more than double the rate of same-week bookings at 24.8%. This is the strongest relationship found in the entire dataset.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23760" y="3977640"/>
            <a:ext cx="4114800" cy="9144"/>
          </a:xfrm>
          <a:prstGeom prst="rect">
            <a:avLst/>
          </a:prstGeom>
          <a:solidFill>
            <a:srgbClr val="E0E8E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2376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HEALTHCONNECT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4480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mid-point reminder or confirmation step for appointments booked far in advance, rather than relying on a single reminder close to the date.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No-Show History Strongly Predicts Future No-Shows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8288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6002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60020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1488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at least one prior no-show attend at a noticeably lower rate, 55.4% no-show, compared to 43.5% for patients with a clean history, a 12 percentage point gap.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23760" y="3977640"/>
            <a:ext cx="4114800" cy="9144"/>
          </a:xfrm>
          <a:prstGeom prst="rect">
            <a:avLst/>
          </a:prstGeom>
          <a:solidFill>
            <a:srgbClr val="E0E8E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2376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HEALTHCONNECT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4480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repeat no-show patients for extra follow-up, such as a confirmation call, rather than treating every patient the same way.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to the Clinic Has a Moderate Effect on Attendance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8288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6002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60020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1488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living 15km or farther from the clinic no-show at 54.1%, compared to 46.4% for those under 5km. A real but smaller effect than lead time or history.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23760" y="3977640"/>
            <a:ext cx="4114800" cy="9144"/>
          </a:xfrm>
          <a:prstGeom prst="rect">
            <a:avLst/>
          </a:prstGeom>
          <a:solidFill>
            <a:srgbClr val="E0E8E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2376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HEALTHCONNECT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4480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telehealth options or transport support for patients living farther away to help close this gap.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Reminders Help Modestly, and SMS Is the Most Effective Channel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8288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6002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60020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1488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any reminder lowers no-show rate from 51.4% to 47.4% overall. Among channels, SMS performs best at 45.8%, ahead of Email at 48.4% and WhatsApp at 49.8%.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23760" y="3977640"/>
            <a:ext cx="4114800" cy="9144"/>
          </a:xfrm>
          <a:prstGeom prst="rect">
            <a:avLst/>
          </a:prstGeom>
          <a:solidFill>
            <a:srgbClr val="E0E8E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2376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HEALTHCONNECT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4480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SMS as the default reminder channel where a patient's number is on file, for the strongest low-cost impact on attendance.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Factors Show Little to No Effect on Attendance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8288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6002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60020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1488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rates across gender only range from 43.5% to 48.7%, a small gap likely within normal variation. Age group showed a similarly narrow spread.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23760" y="3977640"/>
            <a:ext cx="4114800" cy="9144"/>
          </a:xfrm>
          <a:prstGeom prst="rect">
            <a:avLst/>
          </a:prstGeom>
          <a:solidFill>
            <a:srgbClr val="E0E8E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2376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HEALTHCONNECT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4480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HealthConnect's attendance problem is rooted in behavioral and logistical factors, not who the patient is. Interventions should target lead time, history, distance, and reminders rather than demographic profiling.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mid-point reminder for appointments booked far in advance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23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patients with prior no-shows for extra follow-up or confirmation calls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telehealth or transport support for patients living farther from the clinic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SMS as the default reminder channel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37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interventions on behavior and logistics, not demographics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Experience Lab  |  AnalystLab Africa Internship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Widescreen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Abubakar Muhammad-sagir</cp:lastModifiedBy>
  <cp:revision>1</cp:revision>
  <dcterms:created xsi:type="dcterms:W3CDTF">2026-09-04T14:29:59Z</dcterms:created>
  <dcterms:modified xsi:type="dcterms:W3CDTF">2026-09-05T13:12:33Z</dcterms:modified>
</cp:coreProperties>
</file>